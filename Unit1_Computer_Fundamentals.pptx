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tcq8eoFU3kitYhBD6veNVQCaP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E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FD0E6"/>
                </a:solidFill>
                <a:latin typeface="Calibri"/>
                <a:ea typeface="Calibri"/>
                <a:cs typeface="Calibri"/>
                <a:sym typeface="Calibri"/>
              </a:rPr>
              <a:t>UNIT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Computer Fundamentals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5204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Definitions &amp; characteristics  ·  Generations &amp; classification  ·  Von Neumann architecture  ·  Number systems  ·  Data representation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22960" y="425196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8FD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22960" y="5943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Information 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Bachelor of Information Technology Management (BITM) · Semester 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WHERE WE'RE HEADED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Learning Outcomes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7830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Remember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Define computers, their characteristics, and everyday applications.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389120" y="17830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3440" y="2971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Understand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6344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Classify computers by generation, size, and function; explain the Von Neumann architecture and ASCII/Unicode.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0" y="17830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549640" y="21488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549640" y="2148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503920" y="2971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Apply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50392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Convert numbers between binary, octal, decimal, and hexadecimal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1.1 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What Is a Computer?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68680" y="150876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electronic device that accepts data as input, processes it using a set of instructions, and produces meaningful information as output.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2880360"/>
            <a:ext cx="2514600" cy="1645920"/>
          </a:xfrm>
          <a:prstGeom prst="roundRect">
            <a:avLst>
              <a:gd fmla="val 4444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85800" y="30175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Input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85800" y="3447288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Data entered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(keyboard, sensor)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081528" y="342900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355848" y="2880360"/>
            <a:ext cx="2514600" cy="1645920"/>
          </a:xfrm>
          <a:prstGeom prst="roundRect">
            <a:avLst>
              <a:gd fmla="val 4444" name="adj"/>
            </a:avLst>
          </a:prstGeom>
          <a:solidFill>
            <a:srgbClr val="D9E8ED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493008" y="30175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Process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93008" y="3447288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Instructions applied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(CPU calculates)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888736" y="342900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163056" y="2880360"/>
            <a:ext cx="2514600" cy="1645920"/>
          </a:xfrm>
          <a:prstGeom prst="roundRect">
            <a:avLst>
              <a:gd fmla="val 4444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300216" y="30175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00216" y="3447288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Result delivered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(screen, printer)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95944" y="3429000"/>
            <a:ext cx="310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970264" y="2880360"/>
            <a:ext cx="2514600" cy="1645920"/>
          </a:xfrm>
          <a:prstGeom prst="roundRect">
            <a:avLst>
              <a:gd fmla="val 4444" name="adj"/>
            </a:avLst>
          </a:prstGeom>
          <a:solidFill>
            <a:srgbClr val="D9E8ED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107424" y="301752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Storage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07424" y="3447288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Data &amp; results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saved for reuse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an ATM inserts a card (input), verifies the PIN and balance (process), dispenses cash (output), and logs the transaction (storage).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1.1 CHARACTERISTICS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Characteristics of Computers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1691640"/>
            <a:ext cx="5349240" cy="932688"/>
          </a:xfrm>
          <a:prstGeom prst="roundRect">
            <a:avLst>
              <a:gd fmla="val 686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77240" y="176479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Speed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77240" y="2130552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Executes millions to billions of instructions per second.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217920" y="1691640"/>
            <a:ext cx="5349240" cy="932688"/>
          </a:xfrm>
          <a:prstGeom prst="roundRect">
            <a:avLst>
              <a:gd fmla="val 686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446520" y="176479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Accuracy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46520" y="2130552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Error-free results when input &amp; logic are correct ("Garbage In, Garbage Out").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2807208"/>
            <a:ext cx="5349240" cy="932688"/>
          </a:xfrm>
          <a:prstGeom prst="roundRect">
            <a:avLst>
              <a:gd fmla="val 686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77240" y="288036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Diligence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77240" y="32461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Performs repetitive tasks without fatigue or loss of focus.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17920" y="2807208"/>
            <a:ext cx="5349240" cy="932688"/>
          </a:xfrm>
          <a:prstGeom prst="roundRect">
            <a:avLst>
              <a:gd fmla="val 686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446520" y="288036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Storage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46520" y="32461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Retains huge volumes of data and retrieves it instantly.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" y="3922776"/>
            <a:ext cx="5349240" cy="932688"/>
          </a:xfrm>
          <a:prstGeom prst="roundRect">
            <a:avLst>
              <a:gd fmla="val 686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77240" y="39959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Versatility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77240" y="4361688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The same machine can type, play media, and run simulations.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1.1 APPLICATIONS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Applications of Computers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065A82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31520" y="190195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Education &amp; 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31520" y="245059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e-learning, virtual labs, data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97680" y="173736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065A82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480560" y="190195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Business &amp; Banking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480560" y="245059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accounting, ATMs, online transactions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8046720" y="173736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065A82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229600" y="190195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Healthcare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29600" y="245059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diagnostic imaging, patient records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" y="354787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Communication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31520" y="409651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email, video calls, social media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297680" y="338328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480560" y="354787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Entertainment &amp;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480560" y="409651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gaming, animation, video editing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046720" y="3383280"/>
            <a:ext cx="3566160" cy="1417320"/>
          </a:xfrm>
          <a:prstGeom prst="roundRect">
            <a:avLst>
              <a:gd fmla="val 4516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229600" y="354787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Government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229600" y="4096512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e-governance, digital public services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1.2 GENERATIONS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Five Generations of Computers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4F7F9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31520" y="1691640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290587" y="1691640"/>
            <a:ext cx="1554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194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s–5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660325" y="1691650"/>
            <a:ext cx="3374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Vacuum Tubes,Pun</a:t>
            </a:r>
            <a:r>
              <a:rPr b="1" lang="en-US" sz="1700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ch card as IO, Acoustic delay line as Main and magnetic drum as storage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126480" y="1691640"/>
            <a:ext cx="5349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Huge, slow, high power use — e.g. ENIAC, UNIVAC 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31520" y="2624328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2nd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344061" y="2624328"/>
            <a:ext cx="1554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195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s–6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845177" y="2624325"/>
            <a:ext cx="3189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Transistors, </a:t>
            </a:r>
            <a:r>
              <a:rPr b="1" lang="en-US" sz="1700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magnetic core as main, magnetic disk/tape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126480" y="2624328"/>
            <a:ext cx="5349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Smaller, faster, more reliable — e.g. IBM 1401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4F7F9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31520" y="3557016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3rd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370798" y="3557016"/>
            <a:ext cx="1554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196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s–7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660352" y="3557025"/>
            <a:ext cx="3374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Integrated Circuits, keyboard and monit</a:t>
            </a:r>
            <a:r>
              <a:rPr b="1" lang="en-US" sz="1700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or as io, semiconductor as primary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126480" y="3557016"/>
            <a:ext cx="5349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Many transistors on one chip — e.g. IBM System/360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31520" y="448970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4th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370850" y="4489725"/>
            <a:ext cx="1289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i="1" lang="en-US" sz="1450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s–present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660352" y="4489700"/>
            <a:ext cx="3374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Microprocessors, GUI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126480" y="4489704"/>
            <a:ext cx="5349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Whole CPU on one chip — e.g. Apple II, modern PCs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065A82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31520" y="5422392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691640" y="5422392"/>
            <a:ext cx="1554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Present–future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291840" y="5422392"/>
            <a:ext cx="2743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&amp; Parallel Processing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126480" y="5422392"/>
            <a:ext cx="53492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E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9E8ED"/>
                </a:solidFill>
                <a:latin typeface="Calibri"/>
                <a:ea typeface="Calibri"/>
                <a:cs typeface="Calibri"/>
                <a:sym typeface="Calibri"/>
              </a:rPr>
              <a:t>Machine learning, natural language — e.g. Siri, Alexa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1.2 CLASSIFICATION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Classification by Working Mechanism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fmla="val 5000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22960" y="19202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Analog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22960" y="240487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Measures continuous physical quantities.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22960" y="27706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A car's speedometer; a mercury thermometer.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3264408"/>
            <a:ext cx="11064240" cy="1280160"/>
          </a:xfrm>
          <a:prstGeom prst="roundRect">
            <a:avLst>
              <a:gd fmla="val 5000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22960" y="3401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Digital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Processes data as discrete 0s and 1s.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Laptops, desktops, smartphones — everyday computers.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48640" y="4745736"/>
            <a:ext cx="11064240" cy="1280160"/>
          </a:xfrm>
          <a:prstGeom prst="roundRect">
            <a:avLst>
              <a:gd fmla="val 5000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22960" y="488289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Hybrid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22960" y="53675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Combines analog input with digital processing.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22960" y="57332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An ICU monitor reading a heartbeat and showing exact numbers.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1.2 CLASSIFICATION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Classification by Size &amp; Processing Power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22960" y="173736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Supercomputer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114800" y="173736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The fastest category — weather modeling, nuclear &amp; scientific simulation.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fmla="val 6667" name="adj"/>
            </a:avLst>
          </a:prstGeom>
          <a:solidFill>
            <a:srgbClr val="D9E8ED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22960" y="288036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Mainframe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114800" y="288036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Serves many users at once — banks, airline reservation systems.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822960" y="402336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Minicomputer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114800" y="402336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Mid-range machine for departmental business processing.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fmla="val 6667" name="adj"/>
            </a:avLst>
          </a:prstGeom>
          <a:solidFill>
            <a:srgbClr val="D9E8ED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822960" y="516636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Microcomputer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114800" y="5166360"/>
            <a:ext cx="7223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Personal computers, laptops, tablets, and smartphones.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1.3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The Von Neumann Model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Almost every modern computer follows this stored-program design: instructions and data share the same memory.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023360" y="2651760"/>
            <a:ext cx="3383280" cy="2377440"/>
          </a:xfrm>
          <a:prstGeom prst="roundRect">
            <a:avLst>
              <a:gd fmla="val 2308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023360" y="27249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CPU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251960" y="3182112"/>
            <a:ext cx="2926080" cy="457200"/>
          </a:xfrm>
          <a:prstGeom prst="roundRect">
            <a:avLst>
              <a:gd fmla="val 1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251960" y="318211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Unit (CU)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251960" y="3776472"/>
            <a:ext cx="2926080" cy="457200"/>
          </a:xfrm>
          <a:prstGeom prst="roundRect">
            <a:avLst>
              <a:gd fmla="val 1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251960" y="377647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Arithmetic Logic Unit (ALU)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251960" y="4370832"/>
            <a:ext cx="2926080" cy="457200"/>
          </a:xfrm>
          <a:prstGeom prst="roundRect">
            <a:avLst>
              <a:gd fmla="val 1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251960" y="437083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343400" y="1783080"/>
            <a:ext cx="2743200" cy="685800"/>
          </a:xfrm>
          <a:prstGeom prst="roundRect">
            <a:avLst>
              <a:gd fmla="val 8000" name="adj"/>
            </a:avLst>
          </a:prstGeom>
          <a:solidFill>
            <a:srgbClr val="F4F7F9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343400" y="17830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(stores instructions &amp; data)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5715000" y="246888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44505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4343400" y="5120640"/>
            <a:ext cx="2743200" cy="685800"/>
          </a:xfrm>
          <a:prstGeom prst="roundRect">
            <a:avLst>
              <a:gd fmla="val 8000" name="adj"/>
            </a:avLst>
          </a:prstGeom>
          <a:solidFill>
            <a:srgbClr val="F4F7F9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343400" y="512064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Input / Output Devices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5715000" y="502920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44505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9"/>
          <p:cNvSpPr/>
          <p:nvPr/>
        </p:nvSpPr>
        <p:spPr>
          <a:xfrm>
            <a:off x="7818120" y="1965960"/>
            <a:ext cx="3840480" cy="3931920"/>
          </a:xfrm>
          <a:prstGeom prst="roundRect">
            <a:avLst>
              <a:gd fmla="val 1905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8046720" y="21031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components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046720" y="260604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CU —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Directs &amp; coordinates 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8046720" y="338328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ALU —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Performs arithmetic &amp; logic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046720" y="416052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Registers —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Ultra-fast storage in the CPU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8046720" y="493776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Bus —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Carries data between units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1.3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Registers &amp; the Fetch–Decode–Execute Cycle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Registers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48640" y="20665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868680" y="19202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PC: 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Program Counter — address of the next instruction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48640" y="284378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68680" y="26974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IR: 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Instruction Register — holds the current instruction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48640" y="362102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868680" y="34747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MAR: 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Memory Address Register — address being accessed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48640" y="439826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868680" y="42519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Accumulator: 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Holds intermediate results of calculations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Fetch → Decode → Execute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309360" y="2011680"/>
            <a:ext cx="5120640" cy="658368"/>
          </a:xfrm>
          <a:prstGeom prst="roundRect">
            <a:avLst>
              <a:gd fmla="val 8333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492240" y="206654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1. Fetch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492240" y="234086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CU retrieves the next instruction from memory.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309360" y="2788920"/>
            <a:ext cx="5120640" cy="658368"/>
          </a:xfrm>
          <a:prstGeom prst="roundRect">
            <a:avLst>
              <a:gd fmla="val 8333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492240" y="284378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2. Decode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492240" y="311810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CU interprets what operation is being requested.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309360" y="3566160"/>
            <a:ext cx="5120640" cy="658368"/>
          </a:xfrm>
          <a:prstGeom prst="roundRect">
            <a:avLst>
              <a:gd fmla="val 8333" name="adj"/>
            </a:avLst>
          </a:prstGeom>
          <a:solidFill>
            <a:srgbClr val="F4F7F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492240" y="362102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3. Execute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92240" y="389534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ALU carries out the operation; PC moves 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fmla="val 6154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E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8FD0E6"/>
                </a:solidFill>
                <a:latin typeface="Cambria"/>
                <a:ea typeface="Cambria"/>
                <a:cs typeface="Cambria"/>
                <a:sym typeface="Cambria"/>
              </a:rPr>
              <a:t>Worked example — "ADD 5, 3"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Fetch: CU retrieves "ADD 5, 3"  →  Decode: recognized as addition  →  Execute: ALU computes 5 + 3 = 8, stored in a register.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1.4 NUMBER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Number Systems Computers Use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A number system defines how digits represent value. Computers use binary because circuits have two natural states: on and off.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14400" y="2194560"/>
            <a:ext cx="2743200" cy="65836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914400" y="2194560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657600" y="2194560"/>
            <a:ext cx="1371600" cy="65836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657600" y="2194560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029200" y="2194560"/>
            <a:ext cx="4114800" cy="65836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5029200" y="2194560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Digits Used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144000" y="2194560"/>
            <a:ext cx="2011680" cy="65836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9144000" y="219456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Example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14400" y="2852928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914400" y="2852928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657600" y="2852928"/>
            <a:ext cx="13716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657600" y="2852928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029200" y="2852928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5029200" y="2852928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0, 1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9144000" y="2852928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9144000" y="285292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1011₂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14400" y="3511296"/>
            <a:ext cx="27432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914400" y="3511296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Octal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657600" y="3511296"/>
            <a:ext cx="13716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657600" y="3511296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029200" y="3511296"/>
            <a:ext cx="41148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5029200" y="3511296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0–7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144000" y="3511296"/>
            <a:ext cx="201168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9144000" y="351129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13₈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14400" y="4169664"/>
            <a:ext cx="27432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914400" y="4169664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657600" y="4169664"/>
            <a:ext cx="13716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657600" y="4169664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029200" y="4169664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029200" y="4169664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0–9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144000" y="4169664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9144000" y="4169664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11₁₀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14400" y="4828032"/>
            <a:ext cx="27432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914400" y="4828032"/>
            <a:ext cx="2743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Hexadecimal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0" y="4828032"/>
            <a:ext cx="13716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657600" y="4828032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029200" y="4828032"/>
            <a:ext cx="411480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029200" y="4828032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0–9, A–F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144000" y="4828032"/>
            <a:ext cx="2011680" cy="65836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9144000" y="48280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B₁₆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1.4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Converting Decimal ↔ Binary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822960" y="17373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Decimal → Binary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Divide by 2 repeatedly; read remainders bottom → top.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13 ÷ 2 = 6  remainder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22960" y="30449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6 ÷ 2 = 3   remainder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822960" y="348386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3 ÷ 2 = 1   remainder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822960" y="392277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 ÷ 2 = 0   remainder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2"/>
          <p:cNvCxnSpPr/>
          <p:nvPr/>
        </p:nvCxnSpPr>
        <p:spPr>
          <a:xfrm>
            <a:off x="822960" y="4379976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2"/>
          <p:cNvSpPr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13₁₀ = 1101₂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172200" y="1600200"/>
            <a:ext cx="5486400" cy="4480560"/>
          </a:xfrm>
          <a:prstGeom prst="roundRect">
            <a:avLst>
              <a:gd fmla="val 163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6446520" y="17373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Binary → Decimal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Multiply each bit by its place value (power of 2) and sum.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675120" y="2697480"/>
            <a:ext cx="960120" cy="6858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675120" y="269748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675120" y="34290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2³=8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7863840" y="2697480"/>
            <a:ext cx="960120" cy="6858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863840" y="269748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7863840" y="34290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2²=4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9052560" y="2697480"/>
            <a:ext cx="960120" cy="6858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9052560" y="269748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9052560" y="34290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2¹=2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0241280" y="2697480"/>
            <a:ext cx="960120" cy="6858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10241280" y="269748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0241280" y="342900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2⁰=1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446520" y="39776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1×8 + 1×4 + 0×2 + 1×1 = 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2"/>
          <p:cNvCxnSpPr/>
          <p:nvPr/>
        </p:nvCxnSpPr>
        <p:spPr>
          <a:xfrm>
            <a:off x="6446520" y="443484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2"/>
          <p:cNvSpPr/>
          <p:nvPr/>
        </p:nvSpPr>
        <p:spPr>
          <a:xfrm>
            <a:off x="6446520" y="4572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1101₂ = 13₁₀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1.4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Converting Decimal ↔ Octal &amp; Hexadecimal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22960" y="17373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Decimal → Octal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Divide by 8 repeatedly; read remainders bottom → top.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100 ÷ 8 = 12  remainder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822960" y="30449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12 ÷ 8 = 1    remainder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22960" y="348386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 ÷ 8 = 0     remainder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3"/>
          <p:cNvCxnSpPr/>
          <p:nvPr/>
        </p:nvCxnSpPr>
        <p:spPr>
          <a:xfrm>
            <a:off x="822960" y="397764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3"/>
          <p:cNvSpPr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100₁₀ = 144₈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Octal → Decimal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822960" y="5120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1×8²(64) + 4×8¹(8) + 4×8⁰(1) = 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22960" y="54406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→  144₈ = 100₁₀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6172200" y="1600200"/>
            <a:ext cx="5486400" cy="4480560"/>
          </a:xfrm>
          <a:prstGeom prst="roundRect">
            <a:avLst>
              <a:gd fmla="val 1633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6446520" y="17373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Decimal → Hexadecimal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Divide by 16; remainders above 9 become A–F.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446520" y="2606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45 ÷ 16 = 2  remainder 13 → 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446520" y="304495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2 ÷ 16 = 0   remainder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3"/>
          <p:cNvCxnSpPr/>
          <p:nvPr/>
        </p:nvCxnSpPr>
        <p:spPr>
          <a:xfrm>
            <a:off x="6446520" y="3566160"/>
            <a:ext cx="484632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3"/>
          <p:cNvSpPr/>
          <p:nvPr/>
        </p:nvSpPr>
        <p:spPr>
          <a:xfrm>
            <a:off x="6446520" y="3703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45₁₀ = 2D₁₆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6446520" y="42976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Hexadecimal → Decimal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6446520" y="47091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2×16¹(16) + D(13)×16⁰(1) = 45  →  2D₁₆ = 45₁₀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1.4 SHORTCUT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Quick Conversion: Binary ↔ Octal ↔ Hex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Since 8 = 2³ and 16 = 2⁴, group binary digits directly — no decimal step needed.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40" y="201168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822960" y="21214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Binary → Octal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822960" y="257860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group bits in 3s from the right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3749040" y="212140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101 110 011₂  →  5, 6,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8961120" y="2011680"/>
            <a:ext cx="2468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= 563₈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48640" y="347472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22960" y="35844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Binary → Hex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822960" y="404164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group bits in 4s from the right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3749040" y="358444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1010 1111₂  →  A, 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8961120" y="3474720"/>
            <a:ext cx="2468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= AF₁₆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fmla="val 5185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822960" y="504748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Hex → Binary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22960" y="550468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expand each digit to 4 bits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749040" y="504748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B1F24"/>
                </a:solidFill>
                <a:latin typeface="Courier New"/>
                <a:ea typeface="Courier New"/>
                <a:cs typeface="Courier New"/>
                <a:sym typeface="Courier New"/>
              </a:rPr>
              <a:t>3C₁₆  →  0011, 1100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8961120" y="4937760"/>
            <a:ext cx="2468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= 00111100₂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1.5 DATA REPRESENTATION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ASCII: Encoding English Text as Numbers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American Standard Code for Information Interchange — assigns a unique number to every character.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48640" y="1874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facts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48640" y="2395728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822960" y="22585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Uses 7 bits → 128 possible characters (0–127)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548640" y="2898648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822960" y="276148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Covers English letters, digits, punctuation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822960" y="326440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Limitation: cannot represent accented letters or non-English scripts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7498080" y="1874520"/>
            <a:ext cx="2194560" cy="56692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7498080" y="187452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Character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9692640" y="1874520"/>
            <a:ext cx="2194560" cy="56692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9692640" y="187452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ASCII value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7498080" y="2441448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7498080" y="244144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'A'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9692640" y="2441448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9692640" y="2441448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7498080" y="3008376"/>
            <a:ext cx="219456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7498080" y="3008376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'a'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9692640" y="3008376"/>
            <a:ext cx="219456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9692640" y="3008376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7498080" y="3575304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7498080" y="3575304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'Z'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9692640" y="3575304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9692640" y="3575304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7498080" y="4142232"/>
            <a:ext cx="219456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7498080" y="414223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'0'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9692640" y="4142232"/>
            <a:ext cx="219456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9692640" y="4142232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7498080" y="4709160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7498080" y="470916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9692640" y="4709160"/>
            <a:ext cx="219456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9692640" y="4709160"/>
            <a:ext cx="2194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F4F7F9"/>
          </a:solidFill>
          <a:ln cap="flat" cmpd="sng" w="12700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Pattern to remember: </a:t>
            </a: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'A'–'Z' = 65–90, 'a'–'z' = 97–122 — a fixed 32-position gap between upper and lower case.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1.5 DATA REPRESENTATION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1F24"/>
                </a:solidFill>
                <a:latin typeface="Cambria"/>
                <a:ea typeface="Cambria"/>
                <a:cs typeface="Cambria"/>
                <a:sym typeface="Cambria"/>
              </a:rPr>
              <a:t>Unicode: Encoding the World's Languages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Created to solve ASCII's biggest limitation — supporting only English.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548640" y="18745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facts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548640" y="2395728"/>
            <a:ext cx="128016" cy="128016"/>
          </a:xfrm>
          <a:prstGeom prst="ellipse">
            <a:avLst/>
          </a:prstGeom>
          <a:solidFill>
            <a:srgbClr val="8FD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Uses 8–32 bits → over a million possible characters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48640" y="2898648"/>
            <a:ext cx="128016" cy="128016"/>
          </a:xfrm>
          <a:prstGeom prst="ellipse">
            <a:avLst/>
          </a:prstGeom>
          <a:solidFill>
            <a:srgbClr val="8FD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822960" y="276148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Covers virtually every world language, symbol, and emoji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8FD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822960" y="326440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Common encodings: UTF-8, UTF-16, UTF-32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48640" y="3904488"/>
            <a:ext cx="128016" cy="128016"/>
          </a:xfrm>
          <a:prstGeom prst="ellipse">
            <a:avLst/>
          </a:prstGeom>
          <a:solidFill>
            <a:srgbClr val="8FD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822960" y="37673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First 128 code points match ASCII exactly (backward-compatible)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6949440" y="1874520"/>
            <a:ext cx="2743200" cy="56692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6949440" y="187452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Character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9692640" y="1874520"/>
            <a:ext cx="2011680" cy="56692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9692640" y="1874520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Unicode point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6949440" y="2441448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949440" y="2441448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é (French)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9692640" y="2441448"/>
            <a:ext cx="20116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9692640" y="2441448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U+00E9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6949440" y="3008376"/>
            <a:ext cx="274320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6949440" y="300837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अ (Devanagari)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9692640" y="3008376"/>
            <a:ext cx="201168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9692640" y="300837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U+0905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6949440" y="3575304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6949440" y="3575304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字 (Chinese)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9692640" y="3575304"/>
            <a:ext cx="20116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9692640" y="3575304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U+5B57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6949440" y="4142232"/>
            <a:ext cx="274320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949440" y="414223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😀 (emoji)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9692640" y="4142232"/>
            <a:ext cx="2011680" cy="566928"/>
          </a:xfrm>
          <a:prstGeom prst="rect">
            <a:avLst/>
          </a:prstGeom>
          <a:solidFill>
            <a:srgbClr val="F4F7F9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9692640" y="4142232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U+1F600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6949440" y="4709160"/>
            <a:ext cx="27432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6949440" y="470916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₹ (Rupee)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9692640" y="4709160"/>
            <a:ext cx="20116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9692640" y="4709160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4"/>
                </a:solidFill>
                <a:latin typeface="Calibri"/>
                <a:ea typeface="Calibri"/>
                <a:cs typeface="Calibri"/>
                <a:sym typeface="Calibri"/>
              </a:rPr>
              <a:t>U+20B9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E6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8FD0E6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ASCII fits inside Unicode — any plain English text is automatically valid Unicode too.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E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D0E6"/>
                </a:solidFill>
                <a:latin typeface="Calibri"/>
                <a:ea typeface="Calibri"/>
                <a:cs typeface="Calibri"/>
                <a:sym typeface="Calibri"/>
              </a:rPr>
              <a:t>UNIT 1 · RECAP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822960" y="1892808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822960" y="18928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1325880" y="1801368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computer takes input, processes it by instructions, and produces output.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822960" y="2642616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7"/>
          <p:cNvSpPr/>
          <p:nvPr/>
        </p:nvSpPr>
        <p:spPr>
          <a:xfrm>
            <a:off x="822960" y="26426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1325880" y="2551176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generations trace the shift from vacuum tubes to AI-driven systems.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822960" y="3392424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82296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1325880" y="3300984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Computers are classified by working mechanism and by size.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822960" y="4142232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822960" y="41422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1325880" y="4050792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Von Neumann model: CPU (CU + ALU + registers), memory, and I/O share one bus.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822960" y="4892040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822960" y="48920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1325880" y="480060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Binary, octal, decimal, and hexadecimal are the number systems computers use.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822960" y="5641848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822960" y="56418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1325880" y="5550408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ASCII and Unicode convert characters into numbers computers can store.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ITM 101 · Introduction to Computing and IT · Unit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0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505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2026-09-22T05:02:29Z</dcterms:created>
  <dc:creator>PptxGenJS</dc:creator>
</cp:coreProperties>
</file>